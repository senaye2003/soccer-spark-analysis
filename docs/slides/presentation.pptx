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Goals</c:v>
                </c:pt>
              </c:strCache>
            </c:strRef>
          </c:tx>
          <c:spPr>
            <a:solidFill>
              <a:srgbClr val="0B6E4F"/>
            </a:solidFill>
          </c:spPr>
          <c:cat>
            <c:strRef>
              <c:f>Sheet1!$A$2:$A$5</c:f>
              <c:strCache>
                <c:ptCount val="4"/>
                <c:pt idx="0">
                  <c:v>Messi</c:v>
                </c:pt>
                <c:pt idx="1">
                  <c:v>Griezmann</c:v>
                </c:pt>
                <c:pt idx="2">
                  <c:v>Dembele</c:v>
                </c:pt>
                <c:pt idx="3">
                  <c:v>Ansu Fati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12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(xG)</c:v>
                </c:pt>
              </c:strCache>
            </c:strRef>
          </c:tx>
          <c:spPr>
            <a:solidFill>
              <a:srgbClr val="F2A900"/>
            </a:solidFill>
          </c:spPr>
          <c:cat>
            <c:strRef>
              <c:f>Sheet1!$A$2:$A$5</c:f>
              <c:strCache>
                <c:ptCount val="4"/>
                <c:pt idx="0">
                  <c:v>Messi</c:v>
                </c:pt>
                <c:pt idx="1">
                  <c:v>Griezmann</c:v>
                </c:pt>
                <c:pt idx="2">
                  <c:v>Dembele</c:v>
                </c:pt>
                <c:pt idx="3">
                  <c:v>Ansu Fati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22.87</c:v>
                </c:pt>
                <c:pt idx="1">
                  <c:v>12.55</c:v>
                </c:pt>
                <c:pt idx="2">
                  <c:v>4.54</c:v>
                </c:pt>
                <c:pt idx="3">
                  <c:v>1.62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0B6E4F"/>
            </a:solidFill>
          </c:spPr>
          <c:cat>
            <c:strRef>
              <c:f>Sheet1!$A$2:$A$6</c:f>
              <c:strCache>
                <c:ptCount val="5"/>
                <c:pt idx="0">
                  <c:v>Barcelona</c:v>
                </c:pt>
                <c:pt idx="1">
                  <c:v>Sevilla</c:v>
                </c:pt>
                <c:pt idx="2">
                  <c:v>Atletico</c:v>
                </c:pt>
                <c:pt idx="3">
                  <c:v>Villarreal</c:v>
                </c:pt>
                <c:pt idx="4">
                  <c:v>Athletic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89.2</c:v>
                </c:pt>
                <c:pt idx="1">
                  <c:v>84.9</c:v>
                </c:pt>
                <c:pt idx="2">
                  <c:v>83.3</c:v>
                </c:pt>
                <c:pt idx="3">
                  <c:v>83.2</c:v>
                </c:pt>
                <c:pt idx="4">
                  <c:v>82.8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E293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75.0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Goals</c:v>
                </c:pt>
              </c:strCache>
            </c:strRef>
          </c:tx>
          <c:spPr>
            <a:ln w="38100">
              <a:solidFill>
                <a:srgbClr val="F2A900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0-14</c:v>
                </c:pt>
                <c:pt idx="1">
                  <c:v>15-29</c:v>
                </c:pt>
                <c:pt idx="2">
                  <c:v>30-44</c:v>
                </c:pt>
                <c:pt idx="3">
                  <c:v>45-59</c:v>
                </c:pt>
                <c:pt idx="4">
                  <c:v>60-74</c:v>
                </c:pt>
                <c:pt idx="5">
                  <c:v>75-89</c:v>
                </c:pt>
                <c:pt idx="6">
                  <c:v>90+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</c:v>
                </c:pt>
                <c:pt idx="1">
                  <c:v>17</c:v>
                </c:pt>
                <c:pt idx="2">
                  <c:v>18</c:v>
                </c:pt>
                <c:pt idx="3">
                  <c:v>20</c:v>
                </c:pt>
                <c:pt idx="4">
                  <c:v>22</c:v>
                </c:pt>
                <c:pt idx="5">
                  <c:v>19</c:v>
                </c:pt>
                <c:pt idx="6">
                  <c:v>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1097280"/>
            <a:ext cx="2743200" cy="2743200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749039"/>
            <a:ext cx="1828800" cy="1828800"/>
          </a:xfrm>
          <a:prstGeom prst="ellipse">
            <a:avLst/>
          </a:prstGeom>
          <a:solidFill>
            <a:srgbClr val="3A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Georgia"/>
              </a:rPr>
              <a:t>Soccer Match Event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2A900"/>
                </a:solidFill>
                <a:latin typeface="Calibri"/>
              </a:rPr>
              <a:t>A Big-Data Analytics Pipeline with Apache Spark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StatsBomb La Liga 2020/21  ·  Structured APIs · Spark SQL · Streaming · MLlib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FB3C8"/>
                </a:solidFill>
                <a:latin typeface="Calibri"/>
              </a:rPr>
              <a:t>ITCS 6190 — Cloud Computing for Data Analysis  ·  Senaye Weldeberhan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6E4F"/>
                </a:solidFill>
                <a:latin typeface="Georgia"/>
              </a:rPr>
              <a:t>The Problem &amp;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120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Professional soccer generates thousands of event records per match — passes, shots, dribbles, pressures. Analyzing this at scale is hard.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Goal: build an end-to-end Apache Spark pipeline that ingests, analyzes, streams, and models match-event data.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6E4F"/>
                </a:solidFill>
                <a:latin typeface="Calibri"/>
              </a:rPr>
              <a:t>Questions we answer: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Who are the most efficient finishers?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How do teams differ in passing and possession?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When are goals scored, and can we predict them?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371600"/>
            <a:ext cx="2743200" cy="2377440"/>
          </a:xfrm>
          <a:prstGeom prst="round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139,030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69748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CFE5DB"/>
                </a:solidFill>
                <a:latin typeface="Calibri"/>
              </a:rPr>
              <a:t>events analyzed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CFE5DB"/>
                </a:solidFill>
                <a:latin typeface="Calibri"/>
              </a:rPr>
              <a:t>from a single season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ITCS 6190 · Soccer Match Event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6E4F"/>
                </a:solidFill>
                <a:latin typeface="Georgia"/>
              </a:rPr>
              <a:t>The Dataset — StatsBomb Open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560320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Matches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280160"/>
            <a:ext cx="2560320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139,030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560320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46304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0B6E4F"/>
                </a:solidFill>
                <a:latin typeface="Georgia"/>
              </a:rPr>
              <a:t>839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860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Shots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La Liga 2020/21 (competition 11, season 90), accessed via the statsbombpy client — no raw data committed to the repo.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Open coverage centres on FC Barcelona's matches; events arrive as nested JSON (111+ columns), reduced to an analysis-ready schema.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Free for research use — data source: StatsBomb.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ITCS 6190 · Soccer Match Event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6E4F"/>
                </a:solidFill>
                <a:latin typeface="Georgia"/>
              </a:rPr>
              <a:t>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96596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554480"/>
            <a:ext cx="502920" cy="502920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636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1284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E293B"/>
                </a:solidFill>
                <a:latin typeface="Georgia"/>
              </a:rP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Load &amp; clean events; write Parquet/Delta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5643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2A900"/>
                </a:solidFill>
                <a:latin typeface="Calibri"/>
              </a:rPr>
              <a:t>Structured APIs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371600"/>
            <a:ext cx="196596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37560" y="1554480"/>
            <a:ext cx="502920" cy="502920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636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21284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E293B"/>
                </a:solidFill>
                <a:latin typeface="Georgia"/>
              </a:rP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60604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Shot, passing, team &amp; trend queries + joins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45643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2A900"/>
                </a:solidFill>
                <a:latin typeface="Calibri"/>
              </a:rPr>
              <a:t>Spark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371600"/>
            <a:ext cx="196596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1554480"/>
            <a:ext cx="502920" cy="502920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15636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21284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E293B"/>
                </a:solidFill>
                <a:latin typeface="Georgia"/>
              </a:rPr>
              <a:t>Streaming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60604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Replay events as live micro-batches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45643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2A900"/>
                </a:solidFill>
                <a:latin typeface="Calibri"/>
              </a:rPr>
              <a:t>Structured Streaming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1371600"/>
            <a:ext cx="196596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35240" y="1554480"/>
            <a:ext cx="502920" cy="502920"/>
          </a:xfrm>
          <a:prstGeom prst="ellipse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15636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21284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E293B"/>
                </a:solidFill>
                <a:latin typeface="Georgia"/>
              </a:rPr>
              <a:t>Modeling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60604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Predict goals from shot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45643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2A900"/>
                </a:solidFill>
                <a:latin typeface="Calibri"/>
              </a:rPr>
              <a:t>MLlib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1">
                <a:solidFill>
                  <a:srgbClr val="0B6E4F"/>
                </a:solidFill>
                <a:latin typeface="Calibri"/>
              </a:rPr>
              <a:t>One command — bash run.sh — runs all four stages end to end.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ITCS 6190 · Soccer Match Event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6E4F"/>
                </a:solidFill>
                <a:latin typeface="Georgia"/>
              </a:rPr>
              <a:t>Shot Efficiency: Goals vs Expected (xG)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53949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126480" y="1554480"/>
            <a:ext cx="2560320" cy="2560320"/>
          </a:xfrm>
          <a:prstGeom prst="round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0" y="1874519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+7.13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6974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CFE5DB"/>
                </a:solidFill>
                <a:latin typeface="Calibri"/>
              </a:rPr>
              <a:t>goals above expected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10896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AF6F0"/>
                </a:solidFill>
                <a:latin typeface="Calibri"/>
              </a:rPr>
              <a:t>Messi's finishing far exceeds his shot quality — the clearest outlier in the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ITCS 6190 · Soccer Match Event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6E4F"/>
                </a:solidFill>
                <a:latin typeface="Georgia"/>
              </a:rPr>
              <a:t>Passing &amp; Possession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53949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35040" y="1554480"/>
            <a:ext cx="2743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B6E4F"/>
                </a:solidFill>
                <a:latin typeface="Calibri"/>
              </a:rPr>
              <a:t>Barcelona: 26,317 passes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Highest completion (89.2%) at the shortest average pass length (17.7 m).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•  Short, quick passing — a possession-based style versus opponents' longer balls.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ITCS 6190 · Soccer Match Event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6E4F"/>
                </a:solidFill>
                <a:latin typeface="Georgia"/>
              </a:rPr>
              <a:t>When Are Goals Scored?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53949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126480" y="1737360"/>
            <a:ext cx="2560320" cy="2011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0" y="201168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0B6E4F"/>
                </a:solidFill>
                <a:latin typeface="Georgia"/>
              </a:rPr>
              <a:t>60–75'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7889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Scoring rises through the match and peaks in the 60–75 minute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ITCS 6190 · Soccer Match Event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6E4F"/>
                </a:solidFill>
                <a:latin typeface="Georgia"/>
              </a:rPr>
              <a:t>Real-Time Streaming (Simulated)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256032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B6E4F"/>
                </a:solidFill>
                <a:latin typeface="Georgia"/>
              </a:rPr>
              <a:t>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Events written as JSON files into a landing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9232" y="1554480"/>
            <a:ext cx="457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2A90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6032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7373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B6E4F"/>
                </a:solidFill>
                <a:latin typeface="Georgia"/>
              </a:rPr>
              <a:t>Micro-batches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4028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Read one file per trigger (maxFilesPerTrigger =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1031" y="1554480"/>
            <a:ext cx="457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2A90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256032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B6E4F"/>
                </a:solidFill>
                <a:latin typeface="Georgia"/>
              </a:rPr>
              <a:t>Running 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Per-team events / shots / goals to 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1188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StatsBomb data is static, so the live feed is simulated. The availableNow trigger processes all 12 batches and stops — runnable inside run.sh. Final totals match the batch analysis exactly.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ITCS 6190 · Soccer Match Event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Predicting Goals — MLlib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2514600" cy="1554480"/>
          </a:xfrm>
          <a:prstGeom prst="round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0.80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2A900"/>
                </a:solidFill>
                <a:latin typeface="Calibri"/>
              </a:rPr>
              <a:t>AUC (ROC)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80160"/>
            <a:ext cx="2514600" cy="1554480"/>
          </a:xfrm>
          <a:prstGeom prst="round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4630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0.90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28600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2A900"/>
                </a:solidFill>
                <a:latin typeface="Calibri"/>
              </a:rP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280160"/>
            <a:ext cx="2514600" cy="1554480"/>
          </a:xfrm>
          <a:prstGeom prst="round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9" y="14630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0.89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228600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2A900"/>
                </a:solidFill>
                <a:latin typeface="Calibri"/>
              </a:rPr>
              <a:t>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79552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Logistic regression — does a shot become a goal?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•  Features: xG, distance to goal, play pattern, shot type. 80/20 split (668 train / 171 test).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•  Only ~13% of shots are goals, so AUC — not accuracy — is the meaningful measure of skill.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6E4F"/>
                </a:solidFill>
                <a:latin typeface="Georgia"/>
              </a:rPr>
              <a:t>Key Insights &amp; Design Decisions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4023360" cy="3108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B6E4F"/>
                </a:solidFill>
                <a:latin typeface="Georgia"/>
              </a:rPr>
              <a:t>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Messi finished +7.13 goals over expected — elite outlier.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Barcelona's short-passing style: 89% completion, shortest passes.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Goals peak in the 60–75 minute window.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Goal model reaches AUC 0.80.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280160"/>
            <a:ext cx="4023360" cy="3108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41732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B6E4F"/>
                </a:solidFill>
                <a:latin typeface="Georgia"/>
              </a:rPr>
              <a:t>Design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92024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Notebook refactored into runnable, testable scripts.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Parquet/Delta persistence (replacing notebook display()).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Explicit Spark schema for deterministic typing.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•  Simulated streaming; Java 17 pinned for PySpark 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ITCS 6190 · Soccer Match Event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3108960"/>
            <a:ext cx="2743200" cy="2743200"/>
          </a:xfrm>
          <a:prstGeom prst="ellipse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914400"/>
            <a:ext cx="2377440" cy="2377440"/>
          </a:xfrm>
          <a:prstGeom prst="ellipse">
            <a:avLst/>
          </a:prstGeom>
          <a:solidFill>
            <a:srgbClr val="3A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2A900"/>
                </a:solidFill>
                <a:latin typeface="Calibri"/>
              </a:rPr>
              <a:t>Structured APIs · Spark SQL · Streaming · MLlib — one reproducible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github.com/Senaye2003/soccer-spark-analysis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